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B5C60C-02ED-4F10-BB3D-07F35783952E}">
  <a:tblStyle styleId="{1CB5C60C-02ED-4F10-BB3D-07F3578395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66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216659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337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4539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1152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0281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8676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8251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0538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34483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4423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03793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8708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rgbClr val="205867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Phase-I Evaluation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6051" y="76200"/>
            <a:ext cx="2444749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/>
          <p:nvPr/>
        </p:nvSpPr>
        <p:spPr>
          <a:xfrm>
            <a:off x="3759200" y="2150000"/>
            <a:ext cx="5080000" cy="53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4400"/>
              <a:buFont typeface="Calibri"/>
              <a:buNone/>
              <a:defRPr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708400" y="3962401"/>
            <a:ext cx="5181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540"/>
              </a:spcBef>
              <a:spcAft>
                <a:spcPts val="0"/>
              </a:spcAft>
              <a:buClr>
                <a:srgbClr val="366092"/>
              </a:buClr>
              <a:buSzPts val="2700"/>
              <a:buNone/>
              <a:defRPr sz="2700">
                <a:solidFill>
                  <a:srgbClr val="366092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4400"/>
              <a:buFont typeface="Calibri"/>
              <a:buNone/>
              <a:defRPr b="1">
                <a:solidFill>
                  <a:srgbClr val="36609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366092"/>
              </a:buClr>
              <a:buSzPts val="3200"/>
              <a:buChar char="•"/>
              <a:defRPr>
                <a:solidFill>
                  <a:srgbClr val="366092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31859B"/>
              </a:buClr>
              <a:buSzPts val="2800"/>
              <a:buChar char="–"/>
              <a:defRPr>
                <a:solidFill>
                  <a:srgbClr val="31859B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953734"/>
              </a:buClr>
              <a:buSzPts val="2400"/>
              <a:buChar char="•"/>
              <a:defRPr>
                <a:solidFill>
                  <a:srgbClr val="953734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E36C09"/>
              </a:buClr>
              <a:buSzPts val="2000"/>
              <a:buChar char="–"/>
              <a:defRPr>
                <a:solidFill>
                  <a:srgbClr val="E36C09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600" y="6356351"/>
            <a:ext cx="1538817" cy="47148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/>
          <p:nvPr/>
        </p:nvSpPr>
        <p:spPr>
          <a:xfrm>
            <a:off x="2336801" y="6356351"/>
            <a:ext cx="9842500" cy="465258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Phase-I Evaluation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4801" y="5943600"/>
            <a:ext cx="153881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2336801" y="5943600"/>
            <a:ext cx="9842500" cy="3810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Final Year Defense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4400"/>
              <a:buFont typeface="Calibri"/>
              <a:buNone/>
              <a:defRPr b="1">
                <a:solidFill>
                  <a:srgbClr val="36609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366092"/>
              </a:buClr>
              <a:buSzPts val="3200"/>
              <a:buChar char="•"/>
              <a:defRPr>
                <a:solidFill>
                  <a:srgbClr val="366092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31859B"/>
              </a:buClr>
              <a:buSzPts val="2800"/>
              <a:buChar char="–"/>
              <a:defRPr>
                <a:solidFill>
                  <a:srgbClr val="31859B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953734"/>
              </a:buClr>
              <a:buSzPts val="2400"/>
              <a:buChar char="•"/>
              <a:defRPr>
                <a:solidFill>
                  <a:srgbClr val="953734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E36C09"/>
              </a:buClr>
              <a:buSzPts val="2000"/>
              <a:buChar char="–"/>
              <a:defRPr>
                <a:solidFill>
                  <a:srgbClr val="E36C09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ctrTitle"/>
          </p:nvPr>
        </p:nvSpPr>
        <p:spPr>
          <a:xfrm>
            <a:off x="914400" y="850000"/>
            <a:ext cx="10363200" cy="1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7030A0"/>
                </a:solidFill>
              </a:rPr>
              <a:t>A Zero-Trust Framework for Synthetic Media Detection: Integrating C2PA Cryptographic Provenance with Computer Vision Fallback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3886200" y="2783400"/>
            <a:ext cx="4800600" cy="13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endParaRPr sz="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450"/>
              <a:buNone/>
            </a:pPr>
            <a:r>
              <a:rPr lang="en-US" sz="7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Shihab Ar Rafi</a:t>
            </a:r>
            <a:endParaRPr sz="7200"/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450"/>
              <a:buNone/>
            </a:pPr>
            <a:r>
              <a:rPr lang="en-US" sz="7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 : </a:t>
            </a:r>
            <a:r>
              <a:rPr lang="en-US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0242310005101721</a:t>
            </a:r>
            <a:endParaRPr sz="72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endParaRPr sz="6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667"/>
              <a:buNone/>
            </a:pPr>
            <a:endParaRPr/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54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3746550" y="4351300"/>
            <a:ext cx="5079900" cy="533400"/>
          </a:xfrm>
          <a:prstGeom prst="rect">
            <a:avLst/>
          </a:pr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Supervised by</a:t>
            </a:r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subTitle" idx="1"/>
          </p:nvPr>
        </p:nvSpPr>
        <p:spPr>
          <a:xfrm>
            <a:off x="3606900" y="4884700"/>
            <a:ext cx="53826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endParaRPr sz="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7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Shahriar Shakil, Lecturer</a:t>
            </a:r>
            <a:endParaRPr sz="7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endParaRPr sz="7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7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</a:t>
            </a:r>
            <a:endParaRPr sz="72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Daffodil International University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28125"/>
              <a:buNone/>
            </a:pPr>
            <a:endParaRPr sz="6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endParaRPr sz="6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667"/>
              <a:buNone/>
            </a:pPr>
            <a:endParaRPr/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54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10498525" y="6216650"/>
            <a:ext cx="1414800" cy="35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Page: 01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1" name="Google Shape;121;p16"/>
          <p:cNvCxnSpPr/>
          <p:nvPr/>
        </p:nvCxnSpPr>
        <p:spPr>
          <a:xfrm>
            <a:off x="4777500" y="5503575"/>
            <a:ext cx="30180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127" name="Google Shape;127;p17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Study/Literature Review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and Motivation 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of this Study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Datasets, Tools and Techniques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Outcomes</a:t>
            </a:r>
            <a:endParaRPr/>
          </a:p>
          <a:p>
            <a:pPr marL="342900" lvl="0" indent="-3429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366092"/>
              </a:buClr>
              <a:buSzPts val="3200"/>
              <a:buNone/>
            </a:pP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2374000" y="6431088"/>
            <a:ext cx="1414800" cy="35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02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system for detecting AI-generated (synthetic) images by combining C2PA cryptographic provenance with an independent computer-vision forensic model.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Pipeline: C2PA manifest check (Door 1) + CV forensic model (Door 2) → zero-trust decision logic → REAL / FAKE / Suspicious label.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Investigates a deeper question: can a cryptographically valid C2PA signature ever be trusted alone, or must it always be cross-checked against independent visual evidence?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Phase-I delivers a fully trained, from-scratch CV detection model (Door 2) reaching up to 95.32% validation accuracy; the C2PA module (Door 1) is designed for Phase-II.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2374000" y="6431088"/>
            <a:ext cx="1414800" cy="35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03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1524000" y="228600"/>
            <a:ext cx="91440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Study/Literature Review</a:t>
            </a:r>
            <a:endParaRPr/>
          </a:p>
        </p:txBody>
      </p:sp>
      <p:graphicFrame>
        <p:nvGraphicFramePr>
          <p:cNvPr id="141" name="Google Shape;141;p19"/>
          <p:cNvGraphicFramePr/>
          <p:nvPr/>
        </p:nvGraphicFramePr>
        <p:xfrm>
          <a:off x="596000" y="1350000"/>
          <a:ext cx="11200000" cy="4450000"/>
        </p:xfrm>
        <a:graphic>
          <a:graphicData uri="http://schemas.openxmlformats.org/drawingml/2006/table">
            <a:tbl>
              <a:tblPr firstRow="1" bandRow="1">
                <a:noFill/>
                <a:tableStyleId>{1CB5C60C-02ED-4F10-BB3D-07F35783952E}</a:tableStyleId>
              </a:tblPr>
              <a:tblGrid>
                <a:gridCol w="2400000"/>
                <a:gridCol w="2900000"/>
                <a:gridCol w="3300000"/>
                <a:gridCol w="2600000"/>
              </a:tblGrid>
              <a:tr h="5500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Reference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Finding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4472C4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FerretNet (Liang et al., 2025)</a:t>
                      </a:r>
                      <a:endParaRPr/>
                    </a:p>
                  </a:txBody>
                  <a:tcPr marL="45725" marR="45725" marT="22850" marB="228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Lightweight CNN exploiting local pixel dependencies</a:t>
                      </a:r>
                      <a:endParaRPr/>
                    </a:p>
                  </a:txBody>
                  <a:tcPr marL="45725" marR="45725" marT="22850" marB="228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97.1% accuracy across 20+ unseen generators, trained only on ProGAN</a:t>
                      </a:r>
                      <a:endParaRPr/>
                    </a:p>
                  </a:txBody>
                  <a:tcPr marL="45725" marR="45725" marT="22850" marB="228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Doesn't incorporate provenance metadata at all</a:t>
                      </a:r>
                      <a:endParaRPr/>
                    </a:p>
                  </a:txBody>
                  <a:tcPr marL="45725" marR="45725" marT="22850" marB="22850" anchor="ctr"/>
                </a:tc>
              </a:tr>
              <a:tr h="7800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Petrzelkova &amp; Cech (2026)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Single-generator CNN forensic detector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Near-perfect accuracy within its own training generator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Collapses on unseen generators — confirmed independently in this project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F2F2F2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Ojha et al. (2023)</a:t>
                      </a:r>
                      <a:endParaRPr/>
                    </a:p>
                  </a:txBody>
                  <a:tcPr marL="45725" marR="45725" marT="22850" marB="228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CLIP-feature real-vs-fake classification</a:t>
                      </a:r>
                      <a:endParaRPr/>
                    </a:p>
                  </a:txBody>
                  <a:tcPr marL="45725" marR="45725" marT="22850" marB="228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Explains why classifiers treat “real” as a catch-all sink class</a:t>
                      </a:r>
                      <a:endParaRPr/>
                    </a:p>
                  </a:txBody>
                  <a:tcPr marL="45725" marR="45725" marT="22850" marB="228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Diagnostic insight only, not a deployable detector</a:t>
                      </a:r>
                      <a:endParaRPr/>
                    </a:p>
                  </a:txBody>
                  <a:tcPr marL="45725" marR="45725" marT="22850" marB="22850" anchor="ctr"/>
                </a:tc>
              </a:tr>
              <a:tr h="7800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Golaszewski et al. (2026)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Formal security analysis of the C2PA specifications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 camera credentials signed onto AI-generated images; revoked certs still shown valid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Doesn't propose a cross-checking mitigation system</a:t>
                      </a:r>
                      <a:endParaRPr/>
                    </a:p>
                  </a:txBody>
                  <a:tcPr marL="45725" marR="45725" marT="22850" marB="22850" anchor="ctr">
                    <a:solidFill>
                      <a:srgbClr val="F2F2F2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World Privacy Forum (2026);</a:t>
                      </a:r>
                      <a:br>
                        <a:rPr lang="en-US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r>
                        <a:rPr lang="en-US" sz="12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Kaye &amp; Dixon</a:t>
                      </a:r>
                      <a:endParaRPr/>
                    </a:p>
                  </a:txBody>
                  <a:tcPr marL="45725" marR="45725" marT="22850" marB="228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Policy and technical review of the C2PA framework</a:t>
                      </a:r>
                      <a:endParaRPr/>
                    </a:p>
                  </a:txBody>
                  <a:tcPr marL="45725" marR="45725" marT="22850" marB="228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signature certifies who signed a manifest, not whether content is true</a:t>
                      </a:r>
                      <a:endParaRPr/>
                    </a:p>
                  </a:txBody>
                  <a:tcPr marL="45725" marR="45725" marT="22850" marB="22850" anchor="ctr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technical framework combining CV + provenance</a:t>
                      </a:r>
                      <a:endParaRPr/>
                    </a:p>
                  </a:txBody>
                  <a:tcPr marL="45725" marR="45725" marT="22850" marB="22850" anchor="ctr"/>
                </a:tc>
              </a:tr>
            </a:tbl>
          </a:graphicData>
        </a:graphic>
      </p:graphicFrame>
      <p:sp>
        <p:nvSpPr>
          <p:cNvPr id="142" name="Google Shape;142;p19"/>
          <p:cNvSpPr/>
          <p:nvPr/>
        </p:nvSpPr>
        <p:spPr>
          <a:xfrm>
            <a:off x="2374000" y="6431088"/>
            <a:ext cx="1414800" cy="35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04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</a:t>
            </a:r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Pixel-based forensic detection and C2PA provenance verification are almost always studied and deployed in isolation across the literature.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CV-only detectors generalize poorly outside their training distribution — confirmed directly in this project, where Model 2 misclassified unseen-generator fakes as REAL.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C2PA signatures can be cryptographically valid yet still falsely provenanced — published attacks show fake camera credentials, altered GPS/timestamps, and stale revocation checks.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 gap: no existing framework cross-checks a valid C2PA signature against an independent CV judgment, or reports their disagreement rate.</a:t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2374000" y="6431088"/>
            <a:ext cx="1414800" cy="35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05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and Motivation </a:t>
            </a:r>
            <a:endParaRPr/>
          </a:p>
        </p:txBody>
      </p:sp>
      <p:sp>
        <p:nvSpPr>
          <p:cNvPr id="155" name="Google Shape;155;p21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train, entirely from scratch with no </a:t>
            </a: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pretrained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weights, an original CNN (</a:t>
            </a: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SimpleForensicNet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for AI-generated image detection.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Empirically test generalization across generator families and quantify the accuracy/generalization trade-off across three progressive training experiments.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zero-trust hybrid decision architecture combining C2PA and CV verification, never trusting either signal blindly, and flagging disagreement between them</a:t>
            </a:r>
            <a:r>
              <a:rPr lang="en-US" sz="2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AI-generated images now pass as real in journalism, legal evidence, and public discourse — trustworthy detection needs both cryptographic and visual evidence, never just one.</a:t>
            </a:r>
            <a:endParaRPr dirty="0"/>
          </a:p>
        </p:txBody>
      </p:sp>
      <p:sp>
        <p:nvSpPr>
          <p:cNvPr id="156" name="Google Shape;156;p21"/>
          <p:cNvSpPr/>
          <p:nvPr/>
        </p:nvSpPr>
        <p:spPr>
          <a:xfrm>
            <a:off x="2374000" y="6431088"/>
            <a:ext cx="1414800" cy="35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06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of this Study</a:t>
            </a:r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detection frameworks pick either provenance or pixel-forensics; this project is the first, per the reviewed literature, to combine both in a zero-trust cross-check.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Empirically demonstrated the accuracy/generalization trade-off: single-generator models score higher in-domain (95.32%, 91.82%) but fail out-of-domain entirely.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multi-generator model trades some in-domain accuracy (87.76%) for verified generalization, correctly flagging a held-out Stable Diffusion image at 96.99% confidence.</a:t>
            </a:r>
            <a:endParaRPr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a working, from-scratch CV detector with a principled, disagreement-aware hybrid architecture ready for cryptographic integration.</a:t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2374000" y="6431088"/>
            <a:ext cx="1414800" cy="35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07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Datasets, Tools and Techniques</a:t>
            </a:r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CIFAKE (200k images), 140k Real &amp; Fake Faces (FFHQ + </a:t>
            </a: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StyleGAN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Stable Diffusion Faces — all via </a:t>
            </a: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resize to 256×256, normalization; </a:t>
            </a: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API used for direct-to-</a:t>
            </a: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download after browser uploads repeatedly failed.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SimpleForensicNet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4 Conv2D+BatchNorm+ReLU+MaxPool blocks, Global Average Pooling, Dropout(0.3), </a:t>
            </a: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Linear+Sigmoid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389,633 parameters.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and trained entirely from scratch in </a:t>
            </a: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no </a:t>
            </a: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pretrained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weights used anywhere in the pipeline.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Google </a:t>
            </a: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(NVIDIA T4 GPU, free tier); best checkpoint saved by validation accuracy.</a:t>
            </a:r>
            <a:endParaRPr dirty="0"/>
          </a:p>
          <a:p>
            <a:pPr marL="342900" lvl="0" indent="-342900" algn="just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Planned for Phase-II: c2patool / c2pa-python for C2PA manifest verification (Door 1).</a:t>
            </a:r>
            <a:endParaRPr dirty="0"/>
          </a:p>
        </p:txBody>
      </p:sp>
      <p:sp>
        <p:nvSpPr>
          <p:cNvPr id="170" name="Google Shape;170;p23"/>
          <p:cNvSpPr/>
          <p:nvPr/>
        </p:nvSpPr>
        <p:spPr>
          <a:xfrm>
            <a:off x="2374000" y="6431088"/>
            <a:ext cx="1414800" cy="35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08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body" idx="1"/>
          </p:nvPr>
        </p:nvSpPr>
        <p:spPr>
          <a:xfrm>
            <a:off x="609600" y="16764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39700" algn="l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200"/>
              <a:buNone/>
            </a:pPr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160" y="1350000"/>
            <a:ext cx="11155679" cy="515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/>
          <p:nvPr/>
        </p:nvSpPr>
        <p:spPr>
          <a:xfrm>
            <a:off x="2374000" y="6431088"/>
            <a:ext cx="1414800" cy="35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09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4400"/>
              <a:buFont typeface="Times New Roman"/>
              <a:buNone/>
            </a:pPr>
            <a:r>
              <a:rPr lang="en-US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Outcomes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body" idx="1"/>
          </p:nvPr>
        </p:nvSpPr>
        <p:spPr>
          <a:xfrm>
            <a:off x="609600" y="144780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 sz="20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Phase-I Achievements:</a:t>
            </a:r>
            <a:endParaRPr/>
          </a:p>
          <a:p>
            <a:pPr marL="342900" lvl="0" indent="-3429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✓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implemented, trained, and evaluated CV forensic detection pipeline (Door 2), built entirely from scratch with no pretrained weights.</a:t>
            </a:r>
            <a:endParaRPr/>
          </a:p>
          <a:p>
            <a:pPr marL="342900" lvl="0" indent="-3429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✓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training experiments completed: Model 1 (CIFAKE) 95.32%, Model 2 (StyleGAN faces) 91.82%, Model 3 (combined StyleGAN+SD) 87.76%.</a:t>
            </a:r>
            <a:endParaRPr/>
          </a:p>
          <a:p>
            <a:pPr marL="342900" lvl="0" indent="-3429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✓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Critical generalization failure identified in Model 2 (misclassified unseen-generator fakes) and directly resolved in Model 3 (96.99% confidence on held-out SD image).</a:t>
            </a:r>
            <a:endParaRPr/>
          </a:p>
          <a:p>
            <a:pPr marL="342900" lvl="0" indent="-3429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✓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Zero-trust hybrid decision architecture (Door 1 + Door 2 + 3-state logic) fully designed and documented.</a:t>
            </a:r>
            <a:endParaRPr/>
          </a:p>
          <a:p>
            <a:pPr marL="342900" lvl="0" indent="-342900" algn="just" rtl="0">
              <a:spcBef>
                <a:spcPts val="200"/>
              </a:spcBef>
              <a:spcAft>
                <a:spcPts val="0"/>
              </a:spcAft>
              <a:buClr>
                <a:srgbClr val="366092"/>
              </a:buClr>
              <a:buSzPts val="1000"/>
              <a:buNone/>
            </a:pPr>
            <a:endParaRPr sz="1000"/>
          </a:p>
          <a:p>
            <a:pPr marL="342900" lvl="0" indent="-342900" algn="just" rtl="0">
              <a:spcBef>
                <a:spcPts val="400"/>
              </a:spcBef>
              <a:spcAft>
                <a:spcPts val="0"/>
              </a:spcAft>
              <a:buClr>
                <a:srgbClr val="7030A0"/>
              </a:buClr>
              <a:buSzPts val="2000"/>
              <a:buNone/>
            </a:pPr>
            <a:r>
              <a:rPr lang="en-US" sz="2000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Phase-II Plan:</a:t>
            </a:r>
            <a:endParaRPr/>
          </a:p>
          <a:p>
            <a:pPr marL="342900" lvl="0" indent="-3429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Door 1: a C2PA manifest reader using c2patool / c2pa-python.</a:t>
            </a:r>
            <a:endParaRPr/>
          </a:p>
          <a:p>
            <a:pPr marL="342900" lvl="0" indent="-3429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the full hybrid decision logic (REAL / FAKE / Suspicious) with a tuned confidence threshold.</a:t>
            </a:r>
            <a:endParaRPr/>
          </a:p>
          <a:p>
            <a:pPr marL="342900" lvl="0" indent="-3429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paired clean vs. metadata-stripped test conditions; compare C2PA-only, CV-only, and Hybrid systems.</a:t>
            </a:r>
            <a:endParaRPr/>
          </a:p>
          <a:p>
            <a:pPr marL="342900" lvl="0" indent="-342900" algn="just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final thesis chapters and prepare for the Phase-II defense presentation.</a:t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2374000" y="6431088"/>
            <a:ext cx="1414800" cy="35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10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body" idx="1"/>
          </p:nvPr>
        </p:nvSpPr>
        <p:spPr>
          <a:xfrm>
            <a:off x="609600" y="1353050"/>
            <a:ext cx="10972800" cy="39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rgbClr val="7030A0"/>
              </a:buClr>
              <a:buSzPts val="6000"/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6000" b="1" dirty="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rgbClr val="7030A0"/>
              </a:buClr>
              <a:buSzPts val="6000"/>
              <a:buNone/>
            </a:pPr>
            <a:endParaRPr sz="6000" b="1" dirty="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Clr>
                <a:srgbClr val="7030A0"/>
              </a:buClr>
              <a:buSzPts val="6000"/>
              <a:buNone/>
            </a:pPr>
            <a:endParaRPr sz="7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spcBef>
                <a:spcPts val="600"/>
              </a:spcBef>
              <a:spcAft>
                <a:spcPts val="0"/>
              </a:spcAft>
              <a:buClr>
                <a:srgbClr val="366092"/>
              </a:buClr>
              <a:buSzPts val="3000"/>
              <a:buNone/>
            </a:pPr>
            <a:endParaRPr sz="3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2374000" y="6431088"/>
            <a:ext cx="1414800" cy="35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Page: 11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958</Words>
  <Application>Microsoft Office PowerPoint</Application>
  <PresentationFormat>Widescreen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Noto Sans Symbols</vt:lpstr>
      <vt:lpstr>Times New Roman</vt:lpstr>
      <vt:lpstr>New Microsoft PowerPoint Presentation</vt:lpstr>
      <vt:lpstr>A Zero-Trust Framework for Synthetic Media Detection: Integrating C2PA Cryptographic Provenance with Computer Vision Fallback</vt:lpstr>
      <vt:lpstr>Outline</vt:lpstr>
      <vt:lpstr>Introduction</vt:lpstr>
      <vt:lpstr>Background Study/Literature Review</vt:lpstr>
      <vt:lpstr>Gap Analysis</vt:lpstr>
      <vt:lpstr>Objective and Motivation </vt:lpstr>
      <vt:lpstr>Novelty of this Study</vt:lpstr>
      <vt:lpstr>Datasets, Tools and Techniques</vt:lpstr>
      <vt:lpstr>Proposed Methodology</vt:lpstr>
      <vt:lpstr>Results &amp; Outcomes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Zero-Trust Framework for Synthetic Media Detection: Integrating C2PA Cryptographic Provenance with Computer Vision Fallback</dc:title>
  <dc:creator>HP</dc:creator>
  <cp:lastModifiedBy>HP</cp:lastModifiedBy>
  <cp:revision>2</cp:revision>
  <dcterms:modified xsi:type="dcterms:W3CDTF">2026-08-03T06:07:29Z</dcterms:modified>
</cp:coreProperties>
</file>